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3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84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964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TRO_DARK">
    <p:bg>
      <p:bgPr>
        <a:solidFill>
          <a:srgbClr val="09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0F"/>
          </a:solidFill>
          <a:ln w="12700">
            <a:solidFill>
              <a:srgbClr val="090C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67512"/>
            <a:ext cx="11201400" cy="0"/>
          </a:xfrm>
          <a:prstGeom prst="line">
            <a:avLst/>
          </a:prstGeom>
          <a:noFill/>
          <a:ln w="10160">
            <a:solidFill>
              <a:srgbClr val="3A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221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hero_dim.png"/>
          <p:cNvPicPr>
            <a:picLocks noChangeAspect="1"/>
          </p:cNvPicPr>
          <p:nvPr/>
        </p:nvPicPr>
        <p:blipFill>
          <a:blip r:embed="rId3"/>
          <a:srcRect l="27164" r="2716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waltro_nav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2608"/>
            <a:ext cx="2011680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6656" y="18288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E6A27E"/>
                </a:solidFill>
              </a:rPr>
              <a:t>DATA ARCHITECTURE · QUALITY ENGINEERING · INTELLIGENCE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658368" y="2212848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Waltro Core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 v0.1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94944" y="36758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0EA"/>
                </a:solidFill>
              </a:rPr>
              <a:t>Partner review deck: approved conceptual foundation before the first PostgreSQL migration.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94944" y="44439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27E"/>
                </a:solidFill>
              </a:rPr>
              <a:t>Review intent: approve · decline · revise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18120" y="1938528"/>
            <a:ext cx="2240280" cy="530352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TENANT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18120" y="2743200"/>
            <a:ext cx="2240280" cy="530352"/>
          </a:xfrm>
          <a:prstGeom prst="rect">
            <a:avLst/>
          </a:prstGeom>
          <a:solidFill>
            <a:srgbClr val="1D2025"/>
          </a:solidFill>
          <a:ln w="13970">
            <a:solidFill>
              <a:srgbClr val="65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ORGANIZATION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818120" y="3547872"/>
            <a:ext cx="2240280" cy="530352"/>
          </a:xfrm>
          <a:prstGeom prst="rect">
            <a:avLst/>
          </a:prstGeom>
          <a:solidFill>
            <a:srgbClr val="1D2025"/>
          </a:solidFill>
          <a:ln w="13970">
            <a:solidFill>
              <a:srgbClr val="69D3A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SITE / FUNCTIONS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818120" y="4352544"/>
            <a:ext cx="2240280" cy="530352"/>
          </a:xfrm>
          <a:prstGeom prst="rect">
            <a:avLst/>
          </a:prstGeom>
          <a:solidFill>
            <a:srgbClr val="1D2025"/>
          </a:solidFill>
          <a:ln w="13970">
            <a:solidFill>
              <a:srgbClr val="A76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AEEF2"/>
                </a:solidFill>
              </a:rPr>
              <a:t>BRAND / RELATIONSHIPS</a:t>
            </a:r>
            <a:endParaRPr lang="en-US" sz="1280" dirty="0"/>
          </a:p>
        </p:txBody>
      </p:sp>
      <p:sp>
        <p:nvSpPr>
          <p:cNvPr id="12" name="Shape 8"/>
          <p:cNvSpPr/>
          <p:nvPr/>
        </p:nvSpPr>
        <p:spPr>
          <a:xfrm>
            <a:off x="8942832" y="2487168"/>
            <a:ext cx="0" cy="237744"/>
          </a:xfrm>
          <a:prstGeom prst="line">
            <a:avLst/>
          </a:prstGeom>
          <a:noFill/>
          <a:ln w="16510">
            <a:solidFill>
              <a:srgbClr val="E6A27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942832" y="3291840"/>
            <a:ext cx="0" cy="237744"/>
          </a:xfrm>
          <a:prstGeom prst="line">
            <a:avLst/>
          </a:prstGeom>
          <a:noFill/>
          <a:ln w="16510">
            <a:solidFill>
              <a:srgbClr val="65A8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942832" y="4096512"/>
            <a:ext cx="0" cy="237744"/>
          </a:xfrm>
          <a:prstGeom prst="line">
            <a:avLst/>
          </a:prstGeom>
          <a:noFill/>
          <a:ln w="16510">
            <a:solidFill>
              <a:srgbClr val="69D3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Scope: foundation only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This deck is intentionally narrow so the first code migration does not overreach.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21031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40" b="1" dirty="0">
                <a:solidFill>
                  <a:srgbClr val="E6A27E"/>
                </a:solidFill>
              </a:rPr>
              <a:t>Partner decision needed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713232" y="1856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6A27E"/>
                </a:solidFill>
              </a:rPr>
              <a:t>Included in this review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9808" y="23317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Tenant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Organization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Site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Site Function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Brand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Brand Identifier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Organization Relationship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069080" y="1783080"/>
            <a:ext cx="0" cy="3593592"/>
          </a:xfrm>
          <a:prstGeom prst="line">
            <a:avLst/>
          </a:prstGeom>
          <a:noFill/>
          <a:ln w="12700">
            <a:solidFill>
              <a:srgbClr val="3A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1856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6A27E"/>
                </a:solidFill>
              </a:rPr>
              <a:t>Deliberately held back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590288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Package formats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SKUs / Items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Formulations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Lots / Batches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Assets / Equipment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Samples / Results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EEF2"/>
                </a:solidFill>
              </a:rPr>
              <a:t>Specifications / CAPA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092440" y="1783080"/>
            <a:ext cx="0" cy="3593592"/>
          </a:xfrm>
          <a:prstGeom prst="line">
            <a:avLst/>
          </a:prstGeom>
          <a:noFill/>
          <a:ln w="12700">
            <a:solidFill>
              <a:srgbClr val="3A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856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6A27E"/>
                </a:solidFill>
              </a:rPr>
              <a:t>Operating principle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613648" y="233172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EEF2"/>
                </a:solidFill>
              </a:rPr>
              <a:t>Move slowly from the bottom of the pyramid upward.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EEF2"/>
                </a:solidFill>
              </a:rPr>
              <a:t>No assumptions become database objects.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EEF2"/>
                </a:solidFill>
              </a:rPr>
              <a:t>Unclear requirements get resolved before implementation.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572414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E6A27E"/>
                </a:solidFill>
              </a:rPr>
              <a:t>Outcome requested: approve, decline, or revise this foundation before PostgreSQL migration #001.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conceptual foundation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Core subjects and relationships established before code.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1965960" y="1965960"/>
            <a:ext cx="0" cy="822960"/>
          </a:xfrm>
          <a:prstGeom prst="line">
            <a:avLst/>
          </a:prstGeom>
          <a:noFill/>
          <a:ln w="16510">
            <a:solidFill>
              <a:srgbClr val="E6A27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965960" y="3456432"/>
            <a:ext cx="0" cy="822960"/>
          </a:xfrm>
          <a:prstGeom prst="line">
            <a:avLst/>
          </a:prstGeom>
          <a:noFill/>
          <a:ln w="16510">
            <a:solidFill>
              <a:srgbClr val="65A8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46120" y="4590288"/>
            <a:ext cx="1463040" cy="0"/>
          </a:xfrm>
          <a:prstGeom prst="line">
            <a:avLst/>
          </a:prstGeom>
          <a:noFill/>
          <a:ln w="16510">
            <a:solidFill>
              <a:srgbClr val="69D3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83480" y="3310128"/>
            <a:ext cx="1371600" cy="0"/>
          </a:xfrm>
          <a:prstGeom prst="line">
            <a:avLst/>
          </a:prstGeom>
          <a:noFill/>
          <a:ln w="16510">
            <a:solidFill>
              <a:srgbClr val="A76D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83480" y="2359152"/>
            <a:ext cx="1371600" cy="0"/>
          </a:xfrm>
          <a:prstGeom prst="line">
            <a:avLst/>
          </a:prstGeom>
          <a:noFill/>
          <a:ln w="16510">
            <a:solidFill>
              <a:srgbClr val="A76D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1325880"/>
            <a:ext cx="2103120" cy="640080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Tenant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customer data boundary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914400" y="2816352"/>
            <a:ext cx="2103120" cy="640080"/>
          </a:xfrm>
          <a:prstGeom prst="rect">
            <a:avLst/>
          </a:prstGeom>
          <a:solidFill>
            <a:srgbClr val="1D2025"/>
          </a:solidFill>
          <a:ln w="13970">
            <a:solidFill>
              <a:srgbClr val="65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Organization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company/entity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914400" y="4315968"/>
            <a:ext cx="2103120" cy="640080"/>
          </a:xfrm>
          <a:prstGeom prst="rect">
            <a:avLst/>
          </a:prstGeom>
          <a:solidFill>
            <a:srgbClr val="1D2025"/>
          </a:solidFill>
          <a:ln w="13970">
            <a:solidFill>
              <a:srgbClr val="69D3A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Site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physical facility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4709160" y="4270248"/>
            <a:ext cx="2286000" cy="640080"/>
          </a:xfrm>
          <a:prstGeom prst="rect">
            <a:avLst/>
          </a:prstGeom>
          <a:solidFill>
            <a:srgbClr val="1D2025"/>
          </a:solidFill>
          <a:ln w="13970">
            <a:solidFill>
              <a:srgbClr val="69D3A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EF2"/>
                </a:solidFill>
              </a:rPr>
              <a:t>Site Function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AEEF2"/>
                </a:solidFill>
              </a:rPr>
              <a:t>facility capability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55080" y="2039112"/>
            <a:ext cx="2148840" cy="640080"/>
          </a:xfrm>
          <a:prstGeom prst="rect">
            <a:avLst/>
          </a:prstGeom>
          <a:solidFill>
            <a:srgbClr val="1D2025"/>
          </a:solidFill>
          <a:ln w="13970">
            <a:solidFill>
              <a:srgbClr val="A76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Brand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owned identity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6355080" y="2990088"/>
            <a:ext cx="2148840" cy="640080"/>
          </a:xfrm>
          <a:prstGeom prst="rect">
            <a:avLst/>
          </a:prstGeom>
          <a:solidFill>
            <a:srgbClr val="1D2025"/>
          </a:solidFill>
          <a:ln w="13970">
            <a:solidFill>
              <a:srgbClr val="A76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EAEEF2"/>
                </a:solidFill>
              </a:rPr>
              <a:t>Brand Identifier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EAEEF2"/>
                </a:solidFill>
              </a:rPr>
              <a:t>org-specific alias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6355080" y="5303520"/>
            <a:ext cx="2606040" cy="530352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EAEEF2"/>
                </a:solidFill>
              </a:rPr>
              <a:t>Org Relationship</a:t>
            </a:r>
            <a:endParaRPr lang="en-US" sz="1110" dirty="0"/>
          </a:p>
          <a:p>
            <a:pPr marL="0" indent="0" algn="ctr">
              <a:buNone/>
            </a:pPr>
            <a:r>
              <a:rPr lang="en-US" sz="1110" b="1" dirty="0">
                <a:solidFill>
                  <a:srgbClr val="EAEEF2"/>
                </a:solidFill>
              </a:rPr>
              <a:t>directional business role</a:t>
            </a:r>
            <a:endParaRPr lang="en-US" sz="1110" dirty="0"/>
          </a:p>
        </p:txBody>
      </p:sp>
      <p:sp>
        <p:nvSpPr>
          <p:cNvPr id="18" name="Text 15"/>
          <p:cNvSpPr/>
          <p:nvPr/>
        </p:nvSpPr>
        <p:spPr>
          <a:xfrm>
            <a:off x="923544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E6A27E"/>
                </a:solidFill>
              </a:rPr>
              <a:t>Key separations</a:t>
            </a:r>
            <a:endParaRPr lang="en-US" sz="1620" dirty="0"/>
          </a:p>
        </p:txBody>
      </p:sp>
      <p:sp>
        <p:nvSpPr>
          <p:cNvPr id="19" name="Text 16"/>
          <p:cNvSpPr/>
          <p:nvPr/>
        </p:nvSpPr>
        <p:spPr>
          <a:xfrm>
            <a:off x="9235440" y="1965960"/>
            <a:ext cx="2514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EAEEF2"/>
                </a:solidFill>
              </a:rPr>
              <a:t>Brand ownership ≠ manufacturing</a:t>
            </a:r>
            <a:endParaRPr lang="en-US" sz="1480" dirty="0"/>
          </a:p>
          <a:p>
            <a:pPr marL="0" indent="0">
              <a:buNone/>
            </a:pP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AEEF2"/>
                </a:solidFill>
              </a:rPr>
              <a:t>Site capability ≠ customer usage</a:t>
            </a:r>
            <a:endParaRPr lang="en-US" sz="1480" dirty="0"/>
          </a:p>
          <a:p>
            <a:pPr marL="0" indent="0">
              <a:buNone/>
            </a:pP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AEEF2"/>
                </a:solidFill>
              </a:rPr>
              <a:t>Acronyms ≠ identity</a:t>
            </a:r>
            <a:endParaRPr lang="en-US" sz="1480" dirty="0"/>
          </a:p>
          <a:p>
            <a:pPr marL="0" indent="0">
              <a:buNone/>
            </a:pP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AEEF2"/>
                </a:solidFill>
              </a:rPr>
              <a:t>Business relationship ≠ site-to-site transfer</a:t>
            </a:r>
            <a:endParaRPr lang="en-US" sz="14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Tenant: customer security boundary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Approved: every major customer-owned record is explicitly tenant-scoped.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5800" y="1389888"/>
            <a:ext cx="3246120" cy="2331720"/>
          </a:xfrm>
          <a:prstGeom prst="rect">
            <a:avLst/>
          </a:prstGeom>
          <a:solidFill>
            <a:srgbClr val="14171B"/>
          </a:solidFill>
          <a:ln w="10160">
            <a:solidFill>
              <a:srgbClr val="E6A27E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core.tenant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PK tenant_id UUID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tenant_code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tenant_name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is_active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created_at / updated_at</a:t>
            </a:r>
            <a:endParaRPr lang="en-US" sz="1230" dirty="0"/>
          </a:p>
        </p:txBody>
      </p:sp>
      <p:sp>
        <p:nvSpPr>
          <p:cNvPr id="7" name="Text 4"/>
          <p:cNvSpPr/>
          <p:nvPr/>
        </p:nvSpPr>
        <p:spPr>
          <a:xfrm>
            <a:off x="5212080" y="1417320"/>
            <a:ext cx="2057400" cy="530352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TENANT 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83480" y="2331720"/>
            <a:ext cx="2514600" cy="1234440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EF2"/>
                </a:solidFill>
              </a:rPr>
              <a:t>Organizations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EEF2"/>
                </a:solidFill>
              </a:rPr>
              <a:t>Sites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EEF2"/>
                </a:solidFill>
              </a:rPr>
              <a:t>Brands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EEF2"/>
                </a:solidFill>
              </a:rPr>
              <a:t>Custom config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1417320"/>
            <a:ext cx="2057400" cy="530352"/>
          </a:xfrm>
          <a:prstGeom prst="rect">
            <a:avLst/>
          </a:prstGeom>
          <a:solidFill>
            <a:srgbClr val="1D2025"/>
          </a:solidFill>
          <a:ln w="13970">
            <a:solidFill>
              <a:srgbClr val="65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TENANT 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21040" y="2331720"/>
            <a:ext cx="2514600" cy="1234440"/>
          </a:xfrm>
          <a:prstGeom prst="rect">
            <a:avLst/>
          </a:prstGeom>
          <a:solidFill>
            <a:srgbClr val="1D2025"/>
          </a:solidFill>
          <a:ln w="13970">
            <a:solidFill>
              <a:srgbClr val="65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EF2"/>
                </a:solidFill>
              </a:rPr>
              <a:t>Organizations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EEF2"/>
                </a:solidFill>
              </a:rPr>
              <a:t>Sites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EEF2"/>
                </a:solidFill>
              </a:rPr>
              <a:t>Brands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EEF2"/>
                </a:solidFill>
              </a:rPr>
              <a:t>Custom config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36992" y="1143000"/>
            <a:ext cx="0" cy="2743200"/>
          </a:xfrm>
          <a:prstGeom prst="line">
            <a:avLst/>
          </a:prstGeom>
          <a:noFill/>
          <a:ln w="15240">
            <a:solidFill>
              <a:srgbClr val="3A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6A27E"/>
                </a:solidFill>
              </a:rPr>
              <a:t>Business rules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478231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EEF2"/>
                </a:solidFill>
              </a:rPr>
              <a:t>Tenant is the customer/workspace boundary. Cross-tenant relationships are prohibited by database constraints. Customer-specific controlled values do not bleed into another tenant.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58704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i="1" dirty="0">
                <a:solidFill>
                  <a:srgbClr val="A8AEB8"/>
                </a:solidFill>
              </a:rPr>
              <a:t>Security note: this reduces risk but does not replace contracts, access controls, backups, policy, or legal review.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Organization: company or business entity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Approved: Organization is separate from the Waltro Tenant/account.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1325880"/>
            <a:ext cx="4160520" cy="443484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core.organization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PK organization_id UUID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FK tenant_id → tenant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organization_code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legal_name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display_name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status: ACTIVE / INACTIVE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country_code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website optional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AEEF2"/>
                </a:solidFill>
              </a:rPr>
              <a:t>• created_at / updated_at</a:t>
            </a:r>
            <a:endParaRPr lang="en-US" sz="1210" dirty="0"/>
          </a:p>
        </p:txBody>
      </p:sp>
      <p:sp>
        <p:nvSpPr>
          <p:cNvPr id="7" name="Shape 4"/>
          <p:cNvSpPr/>
          <p:nvPr/>
        </p:nvSpPr>
        <p:spPr>
          <a:xfrm>
            <a:off x="658368" y="1371600"/>
            <a:ext cx="0" cy="4343400"/>
          </a:xfrm>
          <a:prstGeom prst="line">
            <a:avLst/>
          </a:prstGeom>
          <a:noFill/>
          <a:ln w="38100">
            <a:solidFill>
              <a:srgbClr val="65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0" y="1554480"/>
            <a:ext cx="2743200" cy="731520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EAEEF2"/>
                </a:solidFill>
              </a:rPr>
              <a:t>Legal name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EAEEF2"/>
                </a:solidFill>
              </a:rPr>
              <a:t>ABC Manufacturing Holdings, LLC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5486400" y="2834640"/>
            <a:ext cx="2743200" cy="731520"/>
          </a:xfrm>
          <a:prstGeom prst="rect">
            <a:avLst/>
          </a:prstGeom>
          <a:solidFill>
            <a:srgbClr val="1D2025"/>
          </a:solidFill>
          <a:ln w="13970">
            <a:solidFill>
              <a:srgbClr val="69D3A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EF2"/>
                </a:solidFill>
              </a:rPr>
              <a:t>Display name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AEEF2"/>
                </a:solidFill>
              </a:rPr>
              <a:t>ABC Manufacturing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052560" y="2194560"/>
            <a:ext cx="1737360" cy="694944"/>
          </a:xfrm>
          <a:prstGeom prst="rect">
            <a:avLst/>
          </a:prstGeom>
          <a:solidFill>
            <a:srgbClr val="1D2025"/>
          </a:solidFill>
          <a:ln w="13970">
            <a:solidFill>
              <a:srgbClr val="65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Code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ABCMFG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0" y="2304288"/>
            <a:ext cx="0" cy="512064"/>
          </a:xfrm>
          <a:prstGeom prst="line">
            <a:avLst/>
          </a:prstGeom>
          <a:noFill/>
          <a:ln w="16510">
            <a:solidFill>
              <a:srgbClr val="E6A27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57032" y="2523744"/>
            <a:ext cx="758952" cy="0"/>
          </a:xfrm>
          <a:prstGeom prst="line">
            <a:avLst/>
          </a:prstGeom>
          <a:noFill/>
          <a:ln w="16510">
            <a:solidFill>
              <a:srgbClr val="65A8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6A27E"/>
                </a:solidFill>
              </a:rPr>
              <a:t>PK / FK rule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0" y="4663440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EAEEF2"/>
                </a:solidFill>
              </a:rPr>
              <a:t>PK: organization_id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EAEEF2"/>
                </a:solidFill>
              </a:rPr>
              <a:t>FK: tenant_id → tenant.tenant_id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EAEEF2"/>
                </a:solidFill>
              </a:rPr>
              <a:t>Unique: tenant_id + organization_code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5486400" y="5596128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i="1" dirty="0">
                <a:solidFill>
                  <a:srgbClr val="A8AEB8"/>
                </a:solidFill>
              </a:rPr>
              <a:t>Roles such as supplier, co-manufacturer, primary, secondary, candidate, or contract lab do not live on Organization. They belong on relationships.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Site + Site Function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Approved: one Site is one physical facility operated by one primary Organization.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3611880" cy="480060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core.site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PK site_id UUID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FK tenant_id → tenant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FK organization_id → organization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site_code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site_name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address_line_1 / address_line_2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city / state_region / postal_code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country_code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time_zone: IANA value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is_active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AEEF2"/>
                </a:solidFill>
              </a:rPr>
              <a:t>• created_at / updated_at</a:t>
            </a:r>
            <a:endParaRPr lang="en-US" sz="1090" dirty="0"/>
          </a:p>
        </p:txBody>
      </p:sp>
      <p:sp>
        <p:nvSpPr>
          <p:cNvPr id="7" name="Shape 4"/>
          <p:cNvSpPr/>
          <p:nvPr/>
        </p:nvSpPr>
        <p:spPr>
          <a:xfrm>
            <a:off x="548640" y="1252728"/>
            <a:ext cx="0" cy="4709160"/>
          </a:xfrm>
          <a:prstGeom prst="line">
            <a:avLst/>
          </a:prstGeom>
          <a:noFill/>
          <a:ln w="381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443984" y="1207008"/>
            <a:ext cx="3291840" cy="480060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core.site_function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PK site_function_id UUID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FK tenant_id → tenant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function_code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function_name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description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is_active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is_system_default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created_at / updated_at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4443984" y="1252728"/>
            <a:ext cx="0" cy="4709160"/>
          </a:xfrm>
          <a:prstGeom prst="line">
            <a:avLst/>
          </a:prstGeom>
          <a:noFill/>
          <a:ln w="38100">
            <a:solidFill>
              <a:srgbClr val="E6A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28432" y="1207008"/>
            <a:ext cx="3429000" cy="214884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core.site_function_assignment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• PK/FK tenant_id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• PK/FK site_id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• PK/FK site_function_id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AEEF2"/>
                </a:solidFill>
              </a:rPr>
              <a:t>• Unique: one function per site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8028432" y="1252728"/>
            <a:ext cx="0" cy="2057400"/>
          </a:xfrm>
          <a:prstGeom prst="line">
            <a:avLst/>
          </a:prstGeom>
          <a:noFill/>
          <a:ln w="38100">
            <a:solidFill>
              <a:srgbClr val="65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9244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6A27E"/>
                </a:solidFill>
              </a:rPr>
              <a:t>Business rules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92440" y="4279392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EAEEF2"/>
                </a:solidFill>
              </a:rPr>
              <a:t>site_code is unique within the operating Organization. Site Functions are admin-configurable controlled values. The assignment stays simple: “this site has this capability.”</a:t>
            </a:r>
            <a:endParaRPr lang="en-US" sz="1390" dirty="0"/>
          </a:p>
        </p:txBody>
      </p:sp>
      <p:sp>
        <p:nvSpPr>
          <p:cNvPr id="14" name="Text 11"/>
          <p:cNvSpPr/>
          <p:nvPr/>
        </p:nvSpPr>
        <p:spPr>
          <a:xfrm>
            <a:off x="4480560" y="614476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A8AEB8"/>
                </a:solidFill>
              </a:rPr>
              <a:t>Examples: MFG · LAB · WHSE · DIST · RND · customer-specific values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values: flexible, not free-for-all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Approved: admins configure known values; operators select them.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pic>
        <p:nvPicPr>
          <p:cNvPr id="6" name="Image 1" descr="/mnt/data/waltro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417320"/>
            <a:ext cx="2331720" cy="1234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6A27E"/>
                </a:solidFill>
              </a:rPr>
              <a:t>The problem Waltro prevents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77240" y="202996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7272"/>
                </a:solidFill>
              </a:rPr>
              <a:t>BBL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37272"/>
                </a:solidFill>
              </a:rPr>
              <a:t>BBLS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37272"/>
                </a:solidFill>
              </a:rPr>
              <a:t>BBL S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37272"/>
                </a:solidFill>
              </a:rPr>
              <a:t>BBLs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37272"/>
                </a:solidFill>
              </a:rPr>
              <a:t>bbl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37272"/>
                </a:solidFill>
              </a:rPr>
              <a:t>Barrels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3520440" y="2971800"/>
            <a:ext cx="1216152" cy="0"/>
          </a:xfrm>
          <a:prstGeom prst="line">
            <a:avLst/>
          </a:prstGeom>
          <a:noFill/>
          <a:ln w="20320">
            <a:solidFill>
              <a:srgbClr val="E6A27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782312" y="2148840"/>
            <a:ext cx="2788920" cy="1371600"/>
          </a:xfrm>
          <a:prstGeom prst="rect">
            <a:avLst/>
          </a:prstGeom>
          <a:solidFill>
            <a:srgbClr val="1D2025"/>
          </a:solidFill>
          <a:ln w="13970">
            <a:solidFill>
              <a:srgbClr val="69D3A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Admin-controlled reference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unit_code: BBL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unit_name: Barrel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635240" y="2971800"/>
            <a:ext cx="1097280" cy="0"/>
          </a:xfrm>
          <a:prstGeom prst="line">
            <a:avLst/>
          </a:prstGeom>
          <a:noFill/>
          <a:ln w="20320">
            <a:solidFill>
              <a:srgbClr val="69D3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759952" y="3383280"/>
            <a:ext cx="2468880" cy="777240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Operational dropdown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AEEF2"/>
                </a:solidFill>
              </a:rPr>
              <a:t>BBL — Barrel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" y="4892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6A27E"/>
                </a:solidFill>
              </a:rPr>
              <a:t>Core rule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31520" y="5321808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EEF2"/>
                </a:solidFill>
              </a:rPr>
              <a:t>If a value comes from a known set, users select it. Free text is reserved for true variables such as measurement results, notes, and comments.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Brand: ownership vs manufacturing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Approved: contract manufacturing does not transfer Brand ownership.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1325880"/>
            <a:ext cx="3977640" cy="406908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core.brand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• PK brand_id UUID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• FK tenant_id → tenant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• FK owner_organization_id → organization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• brand_code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• brand_name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• description optional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• is_active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EF2"/>
                </a:solidFill>
              </a:rPr>
              <a:t>• created_at / updated_at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8368" y="1371600"/>
            <a:ext cx="0" cy="3977640"/>
          </a:xfrm>
          <a:prstGeom prst="line">
            <a:avLst/>
          </a:prstGeom>
          <a:noFill/>
          <a:ln w="38100">
            <a:solidFill>
              <a:srgbClr val="A76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40680" y="1508760"/>
            <a:ext cx="2148840" cy="658368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EEF2"/>
                </a:solidFill>
              </a:rPr>
              <a:t>Russian River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AEEF2"/>
                </a:solidFill>
              </a:rPr>
              <a:t>owner Organization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40680" y="2898648"/>
            <a:ext cx="2148840" cy="658368"/>
          </a:xfrm>
          <a:prstGeom prst="rect">
            <a:avLst/>
          </a:prstGeom>
          <a:solidFill>
            <a:srgbClr val="1D2025"/>
          </a:solidFill>
          <a:ln w="13970">
            <a:solidFill>
              <a:srgbClr val="A76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Pliny the Elder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Brand identity</a:t>
            </a:r>
            <a:endParaRPr lang="en-US" sz="1170" dirty="0"/>
          </a:p>
        </p:txBody>
      </p:sp>
      <p:sp>
        <p:nvSpPr>
          <p:cNvPr id="10" name="Shape 7"/>
          <p:cNvSpPr/>
          <p:nvPr/>
        </p:nvSpPr>
        <p:spPr>
          <a:xfrm>
            <a:off x="6510528" y="2176272"/>
            <a:ext cx="0" cy="694944"/>
          </a:xfrm>
          <a:prstGeom prst="line">
            <a:avLst/>
          </a:prstGeom>
          <a:noFill/>
          <a:ln w="16510">
            <a:solidFill>
              <a:srgbClr val="E6A27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458200" y="1508760"/>
            <a:ext cx="2423160" cy="658368"/>
          </a:xfrm>
          <a:prstGeom prst="rect">
            <a:avLst/>
          </a:prstGeom>
          <a:solidFill>
            <a:srgbClr val="1D2025"/>
          </a:solidFill>
          <a:ln w="13970">
            <a:solidFill>
              <a:srgbClr val="69D3A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EAEEF2"/>
                </a:solidFill>
              </a:rPr>
              <a:t>Firestone Walker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b="1" dirty="0">
                <a:solidFill>
                  <a:srgbClr val="EAEEF2"/>
                </a:solidFill>
              </a:rPr>
              <a:t>manufacturing Organization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8458200" y="2898648"/>
            <a:ext cx="2423160" cy="658368"/>
          </a:xfrm>
          <a:prstGeom prst="rect">
            <a:avLst/>
          </a:prstGeom>
          <a:solidFill>
            <a:srgbClr val="1D2025"/>
          </a:solidFill>
          <a:ln w="13970">
            <a:solidFill>
              <a:srgbClr val="65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Production Site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future relationship</a:t>
            </a:r>
            <a:endParaRPr lang="en-US" sz="1170" dirty="0"/>
          </a:p>
        </p:txBody>
      </p:sp>
      <p:sp>
        <p:nvSpPr>
          <p:cNvPr id="13" name="Shape 10"/>
          <p:cNvSpPr/>
          <p:nvPr/>
        </p:nvSpPr>
        <p:spPr>
          <a:xfrm>
            <a:off x="9674352" y="2176272"/>
            <a:ext cx="0" cy="694944"/>
          </a:xfrm>
          <a:prstGeom prst="line">
            <a:avLst/>
          </a:prstGeom>
          <a:noFill/>
          <a:ln w="16510">
            <a:solidFill>
              <a:srgbClr val="69D3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4068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6A27E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40680" y="47365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EAEEF2"/>
                </a:solidFill>
              </a:rPr>
              <a:t>The Brand owner is the Organization that owns the product identity. The Site/Organization that manufactures the Brand is modeled separately later.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5440680" y="5623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A8AEB8"/>
                </a:solidFill>
              </a:rPr>
              <a:t>Future separations: Brand identity ≠ formulation/recipe version ≠ package/SKU structure.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 Identifier: codes, aliases, and collisions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Approved: acronyms are scoped by Organization; brand_id is authoritative.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21792" y="1234440"/>
            <a:ext cx="4187952" cy="448056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core.brand_identifier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PK brand_identifier_id UUID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FK tenant_id → tenant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FK brand_id → brand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FK organization_id → organization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identifier_value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identifier_type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is_primary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is_active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AEEF2"/>
                </a:solidFill>
              </a:rPr>
              <a:t>• created_at / updated_at</a:t>
            </a:r>
            <a:endParaRPr lang="en-US" sz="1140" dirty="0"/>
          </a:p>
        </p:txBody>
      </p:sp>
      <p:sp>
        <p:nvSpPr>
          <p:cNvPr id="7" name="Shape 4"/>
          <p:cNvSpPr/>
          <p:nvPr/>
        </p:nvSpPr>
        <p:spPr>
          <a:xfrm>
            <a:off x="621792" y="1280160"/>
            <a:ext cx="0" cy="4389120"/>
          </a:xfrm>
          <a:prstGeom prst="line">
            <a:avLst/>
          </a:prstGeom>
          <a:noFill/>
          <a:ln w="38100">
            <a:solidFill>
              <a:srgbClr val="A76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0" y="1325880"/>
            <a:ext cx="2057400" cy="502920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Russian River + PIL</a:t>
            </a:r>
            <a:endParaRPr lang="en-US" sz="1170" dirty="0"/>
          </a:p>
        </p:txBody>
      </p:sp>
      <p:sp>
        <p:nvSpPr>
          <p:cNvPr id="9" name="Text 6"/>
          <p:cNvSpPr/>
          <p:nvPr/>
        </p:nvSpPr>
        <p:spPr>
          <a:xfrm>
            <a:off x="8321040" y="1234440"/>
            <a:ext cx="2331720" cy="658368"/>
          </a:xfrm>
          <a:prstGeom prst="rect">
            <a:avLst/>
          </a:prstGeom>
          <a:solidFill>
            <a:srgbClr val="1D2025"/>
          </a:solidFill>
          <a:ln w="13970">
            <a:solidFill>
              <a:srgbClr val="A76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Pliny the Elder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brand_id 1042</a:t>
            </a:r>
            <a:endParaRPr lang="en-US" sz="1170" dirty="0"/>
          </a:p>
        </p:txBody>
      </p:sp>
      <p:sp>
        <p:nvSpPr>
          <p:cNvPr id="10" name="Text 7"/>
          <p:cNvSpPr/>
          <p:nvPr/>
        </p:nvSpPr>
        <p:spPr>
          <a:xfrm>
            <a:off x="5486400" y="2624328"/>
            <a:ext cx="2057400" cy="502920"/>
          </a:xfrm>
          <a:prstGeom prst="rect">
            <a:avLst/>
          </a:prstGeom>
          <a:solidFill>
            <a:srgbClr val="1D2025"/>
          </a:solidFill>
          <a:ln w="13970">
            <a:solidFill>
              <a:srgbClr val="69D3A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Firestone + PTE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5486400" y="3977640"/>
            <a:ext cx="2057400" cy="502920"/>
          </a:xfrm>
          <a:prstGeom prst="rect">
            <a:avLst/>
          </a:prstGeom>
          <a:solidFill>
            <a:srgbClr val="1D2025"/>
          </a:solidFill>
          <a:ln w="13970">
            <a:solidFill>
              <a:srgbClr val="65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EAEEF2"/>
                </a:solidFill>
              </a:rPr>
              <a:t>Firestone + PIL</a:t>
            </a:r>
            <a:endParaRPr lang="en-US" sz="1170" dirty="0"/>
          </a:p>
        </p:txBody>
      </p:sp>
      <p:sp>
        <p:nvSpPr>
          <p:cNvPr id="12" name="Text 9"/>
          <p:cNvSpPr/>
          <p:nvPr/>
        </p:nvSpPr>
        <p:spPr>
          <a:xfrm>
            <a:off x="8321040" y="3822192"/>
            <a:ext cx="2331720" cy="749808"/>
          </a:xfrm>
          <a:prstGeom prst="rect">
            <a:avLst/>
          </a:prstGeom>
          <a:solidFill>
            <a:srgbClr val="1D2025"/>
          </a:solidFill>
          <a:ln w="13970">
            <a:solidFill>
              <a:srgbClr val="65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EF2"/>
                </a:solidFill>
              </a:rPr>
              <a:t>Different Firestone Brand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AEEF2"/>
                </a:solidFill>
              </a:rPr>
              <a:t>brand_id 2087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43800" y="1572768"/>
            <a:ext cx="731520" cy="0"/>
          </a:xfrm>
          <a:prstGeom prst="line">
            <a:avLst/>
          </a:prstGeom>
          <a:noFill/>
          <a:ln w="16510">
            <a:solidFill>
              <a:srgbClr val="E6A27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543800" y="2871216"/>
            <a:ext cx="731520" cy="0"/>
          </a:xfrm>
          <a:prstGeom prst="line">
            <a:avLst/>
          </a:prstGeom>
          <a:noFill/>
          <a:ln w="16510">
            <a:solidFill>
              <a:srgbClr val="69D3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543800" y="4224528"/>
            <a:ext cx="731520" cy="0"/>
          </a:xfrm>
          <a:prstGeom prst="line">
            <a:avLst/>
          </a:prstGeom>
          <a:noFill/>
          <a:ln w="16510">
            <a:solidFill>
              <a:srgbClr val="65A8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5212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6A27E"/>
                </a:solidFill>
              </a:rPr>
              <a:t>Uniqueness proposal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40680" y="554126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EEF2"/>
                </a:solidFill>
              </a:rPr>
              <a:t>Unique: tenant + organization + identifier_type + identifier_value. Later, Source System can be added if integrations require finer namespaces.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Organization Relationship: directional business roles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Approved: same pair can have multiple relationship types at the same time.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21792" y="1207008"/>
            <a:ext cx="3840480" cy="233172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AEEF2"/>
                </a:solidFill>
              </a:rPr>
              <a:t>core.organization_relationship_type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AEEF2"/>
                </a:solidFill>
              </a:rPr>
              <a:t>• PK relationship_type_id UUID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AEEF2"/>
                </a:solidFill>
              </a:rPr>
              <a:t>• FK tenant_id → tenant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AEEF2"/>
                </a:solidFill>
              </a:rPr>
              <a:t>• relationship_code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AEEF2"/>
                </a:solidFill>
              </a:rPr>
              <a:t>• relationship_name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AEEF2"/>
                </a:solidFill>
              </a:rPr>
              <a:t>• description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AEEF2"/>
                </a:solidFill>
              </a:rPr>
              <a:t>• is_active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AEEF2"/>
                </a:solidFill>
              </a:rPr>
              <a:t>• is_system_default</a:t>
            </a:r>
            <a:endParaRPr lang="en-US" sz="1170" dirty="0"/>
          </a:p>
        </p:txBody>
      </p:sp>
      <p:sp>
        <p:nvSpPr>
          <p:cNvPr id="7" name="Shape 4"/>
          <p:cNvSpPr/>
          <p:nvPr/>
        </p:nvSpPr>
        <p:spPr>
          <a:xfrm>
            <a:off x="621792" y="1252728"/>
            <a:ext cx="0" cy="2240280"/>
          </a:xfrm>
          <a:prstGeom prst="line">
            <a:avLst/>
          </a:prstGeom>
          <a:noFill/>
          <a:ln w="381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3730752"/>
            <a:ext cx="3840480" cy="224028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core.organization_relationship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PK organization_relationship_id UUID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FK tenant_id → tenant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FK source_organization_id → organization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FK target_organization_id → organization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FK relationship_type_id → type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is_active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AEEF2"/>
                </a:solidFill>
              </a:rPr>
              <a:t>• created_at / updated_at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621792" y="3776472"/>
            <a:ext cx="0" cy="2148840"/>
          </a:xfrm>
          <a:prstGeom prst="line">
            <a:avLst/>
          </a:prstGeom>
          <a:noFill/>
          <a:ln w="38100">
            <a:solidFill>
              <a:srgbClr val="E6A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0" y="1572768"/>
            <a:ext cx="2057400" cy="658368"/>
          </a:xfrm>
          <a:prstGeom prst="rect">
            <a:avLst/>
          </a:prstGeom>
          <a:solidFill>
            <a:srgbClr val="1D2025"/>
          </a:solidFill>
          <a:ln w="13970">
            <a:solidFill>
              <a:srgbClr val="E6A2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Acme Foods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source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9052560" y="1572768"/>
            <a:ext cx="2331720" cy="658368"/>
          </a:xfrm>
          <a:prstGeom prst="rect">
            <a:avLst/>
          </a:prstGeom>
          <a:solidFill>
            <a:srgbClr val="1D2025"/>
          </a:solidFill>
          <a:ln w="13970">
            <a:solidFill>
              <a:srgbClr val="69D3A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ABC Manufacturing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EAEEF2"/>
                </a:solidFill>
              </a:rPr>
              <a:t>target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7571232" y="1901952"/>
            <a:ext cx="1453896" cy="0"/>
          </a:xfrm>
          <a:prstGeom prst="line">
            <a:avLst/>
          </a:prstGeom>
          <a:noFill/>
          <a:ln w="16510">
            <a:solidFill>
              <a:srgbClr val="E6A27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90688" y="1481328"/>
            <a:ext cx="1005840" cy="237744"/>
          </a:xfrm>
          <a:prstGeom prst="rect">
            <a:avLst/>
          </a:prstGeom>
          <a:solidFill>
            <a:srgbClr val="1D2025"/>
          </a:solidFill>
          <a:ln w="7620">
            <a:solidFill>
              <a:srgbClr val="E6A27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E6A27E"/>
                </a:solidFill>
              </a:rPr>
              <a:t>SUPPLIER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7571232" y="2971800"/>
            <a:ext cx="1453896" cy="0"/>
          </a:xfrm>
          <a:prstGeom prst="line">
            <a:avLst/>
          </a:prstGeom>
          <a:noFill/>
          <a:ln w="16510">
            <a:solidFill>
              <a:srgbClr val="69D3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98080" y="2542032"/>
            <a:ext cx="1691640" cy="237744"/>
          </a:xfrm>
          <a:prstGeom prst="rect">
            <a:avLst/>
          </a:prstGeom>
          <a:solidFill>
            <a:srgbClr val="1D2025"/>
          </a:solidFill>
          <a:ln w="7620">
            <a:solidFill>
              <a:srgbClr val="69D3A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69D3A7"/>
                </a:solidFill>
              </a:rPr>
              <a:t>CO-MANUFACTURER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548640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6A27E"/>
                </a:solidFill>
              </a:rPr>
              <a:t>Business rules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0" y="4480560"/>
            <a:ext cx="5394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EAEEF2"/>
                </a:solidFill>
              </a:rPr>
              <a:t>Target performs the role for source. Duplicate source + target + type is not allowed. source_organization_id cannot equal target_organization_id. Internal site-to-site transfers are modeled later.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keys, foreign keys, and constraints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Proposed first migration foundation for partner approval.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21792" y="1280160"/>
            <a:ext cx="5440680" cy="434340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Foundation tables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tenant: PK tenant_id · UQ tenant_code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organization: PK organization_id · FK tenant_id · UQ tenant + organization_code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site: PK site_id · FK tenant_id · FK tenant + organization_id · UQ tenant + organization + site_code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site_function: PK site_function_id · FK tenant_id · UQ tenant + function_code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site_function_assignment: PK tenant + site + function; composite FKs prevent cross-tenant assignment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" y="1325880"/>
            <a:ext cx="0" cy="4251960"/>
          </a:xfrm>
          <a:prstGeom prst="line">
            <a:avLst/>
          </a:prstGeom>
          <a:noFill/>
          <a:ln w="38100">
            <a:solidFill>
              <a:srgbClr val="E6A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72784" y="1280160"/>
            <a:ext cx="5440680" cy="434340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Relationship tables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brand: PK brand_id · FK tenant_id · FK tenant + owner_organization_id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brand_identifier: PK brand_identifier_id · FK tenant + brand · FK tenant + organization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organization_relationship_type: PK relationship_type_id · FK tenant_id · UQ tenant + relationship_code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organization_relationship: PK relationship_id · composite FKs to source org, target org, and relationship type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EF2"/>
                </a:solidFill>
              </a:rPr>
              <a:t>• check constraint: source_organization_id &lt;&gt; target_organization_id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2784" y="1325880"/>
            <a:ext cx="0" cy="4251960"/>
          </a:xfrm>
          <a:prstGeom prst="line">
            <a:avLst/>
          </a:prstGeom>
          <a:noFill/>
          <a:ln w="38100">
            <a:solidFill>
              <a:srgbClr val="65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6656" y="59161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E6A27E"/>
                </a:solidFill>
              </a:rPr>
              <a:t>Implementation pattern: UUID internal keys + human-readable codes + tenant-aware composite foreign keys.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"/>
            <a:ext cx="1600200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EE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review: approve, decline, or revise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34840" y="6565392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47B86"/>
                </a:solidFill>
              </a:rPr>
              <a:t>If approved, the next step is PostgreSQL migration #001 for this foundation only.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66928" y="6565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B86"/>
                </a:solidFill>
              </a:rPr>
              <a:t>Waltro Core v0.1 · Partner Review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1234440"/>
            <a:ext cx="5212080" cy="480060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Approval checklist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Tenant as customer data boundary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UUID primary keys with human-readable codes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Explicit tenant_id on major records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Organization fields and ACTIVE/INACTIVE status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Site identity, location, IANA time zone, is_active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Admin-configurable Site Functions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Brand owned by Organization; manufacturing separate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Brand Identifiers scoped by Organization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Directional Organization Relationships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AEEF2"/>
                </a:solidFill>
              </a:rPr>
              <a:t>• No Organization self-relationships</a:t>
            </a:r>
            <a:endParaRPr lang="en-US" sz="1180" dirty="0"/>
          </a:p>
        </p:txBody>
      </p:sp>
      <p:sp>
        <p:nvSpPr>
          <p:cNvPr id="7" name="Shape 4"/>
          <p:cNvSpPr/>
          <p:nvPr/>
        </p:nvSpPr>
        <p:spPr>
          <a:xfrm>
            <a:off x="658368" y="1280160"/>
            <a:ext cx="0" cy="4709160"/>
          </a:xfrm>
          <a:prstGeom prst="line">
            <a:avLst/>
          </a:prstGeom>
          <a:noFill/>
          <a:ln w="38100">
            <a:solidFill>
              <a:srgbClr val="E6A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1234440"/>
            <a:ext cx="4343400" cy="2057400"/>
          </a:xfrm>
          <a:prstGeom prst="rect">
            <a:avLst/>
          </a:prstGeom>
          <a:solidFill>
            <a:srgbClr val="14171B"/>
          </a:solidFill>
          <a:ln w="10160">
            <a:solidFill>
              <a:srgbClr val="3A3F46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EEF2"/>
                </a:solidFill>
              </a:rPr>
              <a:t>Next focused chat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EEF2"/>
                </a:solidFill>
              </a:rPr>
              <a:t>• Create PostgreSQL migration only after partner review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EEF2"/>
                </a:solidFill>
              </a:rPr>
              <a:t>• Open new topic for Brand ↔ Site manufacturing relationship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EEF2"/>
                </a:solidFill>
              </a:rPr>
              <a:t>• Do not move into packaging, formulations, lots, samples, or specs yet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280160"/>
            <a:ext cx="0" cy="1965960"/>
          </a:xfrm>
          <a:prstGeom prst="line">
            <a:avLst/>
          </a:prstGeom>
          <a:noFill/>
          <a:ln w="381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19088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E6A27E"/>
                </a:solidFill>
              </a:rPr>
              <a:t>Proposed approval outcome</a:t>
            </a: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6419088" y="422452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EEF2"/>
                </a:solidFill>
              </a:rPr>
              <a:t>This becomes Waltro Core Foundation v0.1 and we generate the first PostgreSQL schema migration from only these approved objects and business rules.</a:t>
            </a:r>
            <a:endParaRPr lang="en-US" sz="1600" dirty="0"/>
          </a:p>
        </p:txBody>
      </p:sp>
      <p:pic>
        <p:nvPicPr>
          <p:cNvPr id="12" name="Image 1" descr="/mnt/data/waltro_nav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5715000"/>
            <a:ext cx="2011680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7B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1650</Words>
  <Application>Microsoft Office PowerPoint</Application>
  <PresentationFormat>Widescreen</PresentationFormat>
  <Paragraphs>288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Waltro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Waltro Core Foundation v0.1</dc:title>
  <dc:subject>Waltro Core Foundation v0.1 Partner Review</dc:subject>
  <dc:creator>Waltro Systems</dc:creator>
  <cp:lastModifiedBy>Jeffrey Walsh</cp:lastModifiedBy>
  <cp:revision>2</cp:revision>
  <dcterms:created xsi:type="dcterms:W3CDTF">2026-08-16T18:34:04Z</dcterms:created>
  <dcterms:modified xsi:type="dcterms:W3CDTF">2026-08-16T18:42:03Z</dcterms:modified>
</cp:coreProperties>
</file>